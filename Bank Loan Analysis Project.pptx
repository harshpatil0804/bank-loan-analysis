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Lato Light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E648E9-6488-4D6F-960A-7EE32D2B75B5}">
  <a:tblStyle styleId="{C7E648E9-6488-4D6F-960A-7EE32D2B75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Light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LatoLight-italic.fntdata"/><Relationship Id="rId27" Type="http://schemas.openxmlformats.org/officeDocument/2006/relationships/font" Target="fonts/Lato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325" y="4253988"/>
            <a:ext cx="2857500" cy="66481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778496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 BANK LOAN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95625" y="3477517"/>
            <a:ext cx="6000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 Light"/>
                <a:ea typeface="Lato Light"/>
                <a:cs typeface="Lato Light"/>
                <a:sym typeface="Lato Light"/>
              </a:rPr>
              <a:t>Comprehensive Portfolio Performance &amp; Risk Insights Report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31125" y="4419350"/>
            <a:ext cx="3129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DATA ANALYTICS </a:t>
            </a:r>
            <a:r>
              <a:rPr lang="en-US" sz="135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PROJECT</a:t>
            </a:r>
            <a:r>
              <a:rPr b="0" i="0" lang="en-US" sz="1350" u="none" cap="none" strike="noStrike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 202</a:t>
            </a:r>
            <a:r>
              <a:rPr lang="en-US" sz="135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859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CONTEXT &amp; SCOPE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315616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Objective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8717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 evaluate loan applications, funded amounts, and repayment patterns to optimize approval strategies and reduce bad debt risk.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071937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Dataset Overview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859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57200" y="462810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62810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Dimensions: Status, Term, Purpose, Home Ownership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57200" y="493290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493290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Financial Loan Registry (SQL Server)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57200" y="523770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523770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Analytics: KPIs, Trends, and Regional Heatmaps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OPERATIONAL KPIS SUMMARY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2147887"/>
            <a:ext cx="36830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38.6K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3290887"/>
            <a:ext cx="36830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TOTAL APPLICATIONS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254549" y="2147887"/>
            <a:ext cx="36830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$436M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254549" y="3290887"/>
            <a:ext cx="36830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FUNDED AMOUNT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937599" y="2147887"/>
            <a:ext cx="36830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$473M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937599" y="3290887"/>
            <a:ext cx="36830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AMOUNT RECEIVED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4310062"/>
            <a:ext cx="552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12.05%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5453062"/>
            <a:ext cx="5524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AVG INTEREST RATE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096000" y="4310062"/>
            <a:ext cx="552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13.33%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096000" y="5453062"/>
            <a:ext cx="5524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AVG DTI RATIO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2187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2595562"/>
            <a:ext cx="26670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PORTFOLIO RISK ASSESSMENT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4476750" y="3289101"/>
            <a:ext cx="228600" cy="228600"/>
          </a:xfrm>
          <a:prstGeom prst="roundRect">
            <a:avLst>
              <a:gd fmla="val 16666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4848225" y="3068240"/>
            <a:ext cx="29622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Good Loans: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33.2K Applications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$370.22M Received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4476750" y="4340423"/>
            <a:ext cx="228600" cy="228600"/>
          </a:xfrm>
          <a:prstGeom prst="roundRect">
            <a:avLst>
              <a:gd fmla="val 16666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4848225" y="4119562"/>
            <a:ext cx="34385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Bad Loans: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5.3K Applications (13.8%)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$37.28M Received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LOAN STATUS PERFORMANCE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71500" y="2867025"/>
            <a:ext cx="11049000" cy="2314575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17"/>
          <p:cNvGraphicFramePr/>
          <p:nvPr/>
        </p:nvGraphicFramePr>
        <p:xfrm>
          <a:off x="571500" y="2867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{C7E648E9-6488-4D6F-960A-7EE32D2B75B5}</a:tableStyleId>
              </a:tblPr>
              <a:tblGrid>
                <a:gridCol w="2166925"/>
                <a:gridCol w="2280950"/>
                <a:gridCol w="2737250"/>
                <a:gridCol w="2280950"/>
                <a:gridCol w="1582925"/>
              </a:tblGrid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BBF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Loan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BBF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Applications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BBF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Funded Amount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BBF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Rec. Amount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BBF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Avg DTI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Fully Paid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32,145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$351,358,350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$411,586,256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13.17%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Charged Off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5,333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$65,532,225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$37,284,763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14.00%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BBF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Current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$18,866,500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$24,199,914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14.72%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" name="Google Shape;146;p17"/>
          <p:cNvSpPr/>
          <p:nvPr/>
        </p:nvSpPr>
        <p:spPr>
          <a:xfrm>
            <a:off x="571500" y="4052887"/>
            <a:ext cx="216693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738437" y="4052887"/>
            <a:ext cx="228093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019377" y="4052887"/>
            <a:ext cx="27372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756624" y="4052887"/>
            <a:ext cx="228093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10037564" y="4052887"/>
            <a:ext cx="158293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4614862"/>
            <a:ext cx="216693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738437" y="4614862"/>
            <a:ext cx="228093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019377" y="4614862"/>
            <a:ext cx="27372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756624" y="4614862"/>
            <a:ext cx="228093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10037564" y="4614862"/>
            <a:ext cx="158293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LENDING PATTERNS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60483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Steady MoM growth in funded amounts, peaking in Q4.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762000" y="5715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REGIONAL DISTRIBUTION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571500"/>
            <a:ext cx="57150" cy="12382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2872680"/>
            <a:ext cx="4953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Market Concentration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348987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loan portfolio shows strong regional concentration in high-population states.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457200" y="438522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438522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California (CA):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6,894 Applications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57200" y="469002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469002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Florida (FL):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2,773 Applications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57200" y="499482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499482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Georgia (GA):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1,355 Applications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457200" y="529962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529962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Massachusetts (MA):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1,310 Applications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EMPLOYMENT LENGTH IMPACT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51768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Stable employment (10+ years) correlates with higher loan volume and stability.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71500" y="4986337"/>
            <a:ext cx="110490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7950"/>
            <a:ext cx="34924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647950"/>
            <a:ext cx="3492549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647950"/>
            <a:ext cx="349240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PRIMARY LOAN PURPOSES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3" name="Google Shape;20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1000" y="3028950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884239" y="3743325"/>
            <a:ext cx="28669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Debt Consolidation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952500" y="4219575"/>
            <a:ext cx="2730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18,214 Applications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($232M Funded)</a:t>
            </a:r>
            <a:endParaRPr/>
          </a:p>
        </p:txBody>
      </p:sp>
      <p:pic>
        <p:nvPicPr>
          <p:cNvPr descr="image.png" id="206" name="Google Shape;20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9151" y="3028950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4662387" y="3743325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Credit Card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730650" y="4219575"/>
            <a:ext cx="2730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4,998 Applications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($58M Funded)</a:t>
            </a:r>
            <a:endParaRPr/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7450" y="3028950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8440690" y="3743325"/>
            <a:ext cx="28669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Home Improvement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508950" y="4219575"/>
            <a:ext cx="2730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2,876 Applications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($33M Funded)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9850"/>
            <a:ext cx="52387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09850"/>
            <a:ext cx="523875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HOME OWNERSHIP SEGMENTS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952500" y="2990850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Rent &amp; Mortgage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952500" y="345757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vast majority of borrowers fall into the Rent (18,439) or Mortgage (17,198) categories.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762750" y="2990850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Home Owners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762750" y="345757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"OWN" category represents a smaller, likely more stable segment of the portfolio.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838200" y="42576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952500" y="425767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Rent Total: $185.7M Funded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38200" y="45624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952500" y="456247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Mortgage Total: $219.3M Funded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648450" y="42576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762750" y="425767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Own Total: 2,838 Apps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648450" y="45624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762750" y="456247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Received: $31.7M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ROADMAP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1000125" y="2843212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Risk Mitigation: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Tighten approval criteria for high-DTI and low-credit-grade segments to reduce Charge-Off rates.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000125" y="3386137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Product Focus: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Enhance debt consolidation products as they drive nearly 50% of application volume.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000125" y="3929062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Retention: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Target the 10+ year employment segment with loyalty benefits and faster approval tracks.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1000125" y="4471987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Operational Efficiency: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Invest in high-performing states (CA, FL, GA) during seasonal peak in Q4.</a:t>
            </a:r>
            <a:endParaRPr/>
          </a:p>
        </p:txBody>
      </p:sp>
      <p:pic>
        <p:nvPicPr>
          <p:cNvPr descr="image.png" id="244" name="Google Shape;24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32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861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290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7198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